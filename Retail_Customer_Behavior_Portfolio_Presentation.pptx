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Retail Customer Behavior &amp; Sales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End-to-end Data Analytics Portfolio</a:t>
            </a:r>
          </a:p>
          <a:p>
            <a:pPr>
              <a:spcAft>
                <a:spcPts val="1000"/>
              </a:spcAft>
              <a:defRPr sz="1800"/>
            </a:pPr>
            <a:r>
              <a:t>Python • SQL • Power BI • Excel • GitHub</a:t>
            </a:r>
          </a:p>
          <a:p>
            <a:pPr>
              <a:spcAft>
                <a:spcPts val="1000"/>
              </a:spcAft>
              <a:defRPr sz="1800"/>
            </a:pPr>
            <a:r>
              <a:t>Prepared by Shyam Sundar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Understand what drives retail purchase value.</a:t>
            </a:r>
          </a:p>
          <a:p>
            <a:pPr>
              <a:spcAft>
                <a:spcPts val="1000"/>
              </a:spcAft>
              <a:defRPr sz="1800"/>
            </a:pPr>
            <a:r>
              <a:t>Identify high-value categories, products and customer segments.</a:t>
            </a:r>
          </a:p>
          <a:p>
            <a:pPr>
              <a:spcAft>
                <a:spcPts val="1000"/>
              </a:spcAft>
              <a:defRPr sz="1800"/>
            </a:pPr>
            <a:r>
              <a:t>Evaluate subscriptions, discounts, shipping and payment behavior.</a:t>
            </a:r>
          </a:p>
          <a:p>
            <a:pPr>
              <a:spcAft>
                <a:spcPts val="1000"/>
              </a:spcAft>
              <a:defRPr sz="1800"/>
            </a:pPr>
            <a:r>
              <a:t>Convert raw data into decision-ready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3,900 records | 3,900 unique customer IDs</a:t>
            </a:r>
          </a:p>
          <a:p>
            <a:pPr>
              <a:spcAft>
                <a:spcPts val="1000"/>
              </a:spcAft>
              <a:defRPr sz="1800"/>
            </a:pPr>
            <a:r>
              <a:t>37 missing review ratings handled with median imputation</a:t>
            </a:r>
          </a:p>
          <a:p>
            <a:pPr>
              <a:spcAft>
                <a:spcPts val="1000"/>
              </a:spcAft>
              <a:defRPr sz="1800"/>
            </a:pPr>
            <a:r>
              <a:t>No duplicate rows found.</a:t>
            </a:r>
          </a:p>
          <a:p>
            <a:pPr>
              <a:spcAft>
                <a:spcPts val="1000"/>
              </a:spcAft>
              <a:defRPr sz="1800"/>
            </a:pPr>
            <a:r>
              <a:t>Derived features: age group, customer segment, discount flag, promo flag.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Python / EDA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Total recorded revenue: $233,081</a:t>
            </a:r>
          </a:p>
          <a:p>
            <a:pPr>
              <a:spcAft>
                <a:spcPts val="1000"/>
              </a:spcAft>
              <a:defRPr sz="1800"/>
            </a:pPr>
            <a:r>
              <a:t>Average order value: $59.76</a:t>
            </a:r>
          </a:p>
          <a:p>
            <a:pPr>
              <a:spcAft>
                <a:spcPts val="1000"/>
              </a:spcAft>
              <a:defRPr sz="1800"/>
            </a:pPr>
            <a:r>
              <a:t>Average review rating: 3.75</a:t>
            </a:r>
          </a:p>
          <a:p>
            <a:pPr>
              <a:spcAft>
                <a:spcPts val="1000"/>
              </a:spcAft>
              <a:defRPr sz="1800"/>
            </a:pPr>
            <a:r>
              <a:t>Discount usage: 43.0%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Power BI Dashboard Preview</a:t>
            </a:r>
          </a:p>
        </p:txBody>
      </p:sp>
      <p:pic>
        <p:nvPicPr>
          <p:cNvPr id="3" name="Picture 2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881360" cy="65003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Category revenue and order performance</a:t>
            </a:r>
          </a:p>
          <a:p>
            <a:pPr>
              <a:spcAft>
                <a:spcPts val="1000"/>
              </a:spcAft>
              <a:defRPr sz="1800"/>
            </a:pPr>
            <a:r>
              <a:t>Subscriber vs non-subscriber comparison</a:t>
            </a:r>
          </a:p>
          <a:p>
            <a:pPr>
              <a:spcAft>
                <a:spcPts val="1000"/>
              </a:spcAft>
              <a:defRPr sz="1800"/>
            </a:pPr>
            <a:r>
              <a:t>Discount-rate analysis by product</a:t>
            </a:r>
          </a:p>
          <a:p>
            <a:pPr>
              <a:spcAft>
                <a:spcPts val="1000"/>
              </a:spcAft>
              <a:defRPr sz="1800"/>
            </a:pPr>
            <a:r>
              <a:t>Customer segmentation with CASE</a:t>
            </a:r>
          </a:p>
          <a:p>
            <a:pPr>
              <a:spcAft>
                <a:spcPts val="1000"/>
              </a:spcAft>
              <a:defRPr sz="1800"/>
            </a:pPr>
            <a:r>
              <a:t>Top products by category using ROW_NUMBER()</a:t>
            </a:r>
          </a:p>
          <a:p>
            <a:pPr>
              <a:spcAft>
                <a:spcPts val="1000"/>
              </a:spcAft>
              <a:defRPr sz="1800"/>
            </a:pPr>
            <a:r>
              <a:t>Age-group revenue contribution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Clothing is the largest revenue category at $104,264.</a:t>
            </a:r>
          </a:p>
          <a:p>
            <a:pPr>
              <a:spcAft>
                <a:spcPts val="1000"/>
              </a:spcAft>
              <a:defRPr sz="1800"/>
            </a:pPr>
            <a:r>
              <a:t>The 56–70 group contributes $65,256.</a:t>
            </a:r>
          </a:p>
          <a:p>
            <a:pPr>
              <a:spcAft>
                <a:spcPts val="1000"/>
              </a:spcAft>
              <a:defRPr sz="1800"/>
            </a:pPr>
            <a:r>
              <a:t>Loyal customers form the largest segment under the defined purchase-history rule.</a:t>
            </a:r>
          </a:p>
          <a:p>
            <a:pPr>
              <a:spcAft>
                <a:spcPts val="1000"/>
              </a:spcAft>
              <a:defRPr sz="1800"/>
            </a:pPr>
            <a:r>
              <a:t>Discount usage is substantial and should be monitored for margin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No transaction date: do not claim monthly or weekly sales trends.</a:t>
            </a:r>
          </a:p>
          <a:p>
            <a:pPr>
              <a:spcAft>
                <a:spcPts val="1000"/>
              </a:spcAft>
              <a:defRPr sz="1800"/>
            </a:pPr>
            <a:r>
              <a:t>Future version: add validated dates, costs/margins, channels and customer acquisition data.</a:t>
            </a:r>
          </a:p>
          <a:p>
            <a:pPr>
              <a:spcAft>
                <a:spcPts val="1000"/>
              </a:spcAft>
              <a:defRPr sz="1800"/>
            </a:pPr>
            <a:r>
              <a:t>Potential extensions: cohort retention, CLV, RFM segmentation and promotion ROI.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Portfolio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Python notebook + cleaning script</a:t>
            </a:r>
          </a:p>
          <a:p>
            <a:pPr>
              <a:spcAft>
                <a:spcPts val="1000"/>
              </a:spcAft>
              <a:defRPr sz="1800"/>
            </a:pPr>
            <a:r>
              <a:t>PostgreSQL SQL analysis</a:t>
            </a:r>
          </a:p>
          <a:p>
            <a:pPr>
              <a:spcAft>
                <a:spcPts val="1000"/>
              </a:spcAft>
              <a:defRPr sz="1800"/>
            </a:pPr>
            <a:r>
              <a:t>Power BI dashboard build guide + DAX measures + theme</a:t>
            </a:r>
          </a:p>
          <a:p>
            <a:pPr>
              <a:spcAft>
                <a:spcPts val="1000"/>
              </a:spcAft>
              <a:defRPr sz="1800"/>
            </a:pPr>
            <a:r>
              <a:t>Excel analysis workbook</a:t>
            </a:r>
          </a:p>
          <a:p>
            <a:pPr>
              <a:spcAft>
                <a:spcPts val="1000"/>
              </a:spcAft>
              <a:defRPr sz="1800"/>
            </a:pPr>
            <a:r>
              <a:t>Business problem + project report</a:t>
            </a:r>
          </a:p>
          <a:p>
            <a:pPr>
              <a:spcAft>
                <a:spcPts val="1000"/>
              </a:spcAft>
              <a:defRPr sz="1800"/>
            </a:pPr>
            <a:r>
              <a:t>GitHub-ready README and folder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